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Lst>
  <p:sldSz cx="18288000" cy="10287000"/>
  <p:notesSz cx="6858000" cy="9144000"/>
  <p:embeddedFontLst>
    <p:embeddedFont>
      <p:font typeface="Canva Sans Bold" panose="020B0604020202020204" charset="0"/>
      <p:regular r:id="rId13"/>
    </p:embeddedFont>
    <p:embeddedFont>
      <p:font typeface="Times New Roman Bold" panose="02020803070505020304" pitchFamily="18"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13B96D-DC0A-493A-BD2A-89193774B9ED}" v="1" dt="2025-09-15T15:55:18.4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7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SHA PEREIRA - 45618230001" userId="S::stasha.pereira001@nmcce.edu.in::05a64387-9185-4bd8-abbb-dafb8535c6af" providerId="AD" clId="Web-{E013B96D-DC0A-493A-BD2A-89193774B9ED}"/>
    <pc:docChg chg="delSld">
      <pc:chgData name="STASHA PEREIRA - 45618230001" userId="S::stasha.pereira001@nmcce.edu.in::05a64387-9185-4bd8-abbb-dafb8535c6af" providerId="AD" clId="Web-{E013B96D-DC0A-493A-BD2A-89193774B9ED}" dt="2025-09-15T15:55:18.425" v="0"/>
      <pc:docMkLst>
        <pc:docMk/>
      </pc:docMkLst>
      <pc:sldChg chg="del">
        <pc:chgData name="STASHA PEREIRA - 45618230001" userId="S::stasha.pereira001@nmcce.edu.in::05a64387-9185-4bd8-abbb-dafb8535c6af" providerId="AD" clId="Web-{E013B96D-DC0A-493A-BD2A-89193774B9ED}" dt="2025-09-15T15:55:18.425" v="0"/>
        <pc:sldMkLst>
          <pc:docMk/>
          <pc:sldMk cId="0"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58755"/>
            <a:ext cx="18288000" cy="10835198"/>
          </a:xfrm>
          <a:custGeom>
            <a:avLst/>
            <a:gdLst/>
            <a:ahLst/>
            <a:cxnLst/>
            <a:rect l="l" t="t" r="r" b="b"/>
            <a:pathLst>
              <a:path w="18288000" h="10835198">
                <a:moveTo>
                  <a:pt x="0" y="0"/>
                </a:moveTo>
                <a:lnTo>
                  <a:pt x="18288000" y="0"/>
                </a:lnTo>
                <a:lnTo>
                  <a:pt x="18288000" y="10835198"/>
                </a:lnTo>
                <a:lnTo>
                  <a:pt x="0" y="10835198"/>
                </a:lnTo>
                <a:lnTo>
                  <a:pt x="0" y="0"/>
                </a:lnTo>
                <a:close/>
              </a:path>
            </a:pathLst>
          </a:custGeom>
          <a:blipFill>
            <a:blip r:embed="rId2"/>
            <a:stretch>
              <a:fillRect l="-4222" t="-42024" b="-34337"/>
            </a:stretch>
          </a:blipFill>
        </p:spPr>
      </p:sp>
      <p:sp>
        <p:nvSpPr>
          <p:cNvPr id="3" name="TextBox 3"/>
          <p:cNvSpPr txBox="1"/>
          <p:nvPr/>
        </p:nvSpPr>
        <p:spPr>
          <a:xfrm>
            <a:off x="-428964" y="4113995"/>
            <a:ext cx="19145929" cy="613411"/>
          </a:xfrm>
          <a:prstGeom prst="rect">
            <a:avLst/>
          </a:prstGeom>
        </p:spPr>
        <p:txBody>
          <a:bodyPr lIns="0" tIns="0" rIns="0" bIns="0" rtlCol="0" anchor="t">
            <a:spAutoFit/>
          </a:bodyPr>
          <a:lstStyle/>
          <a:p>
            <a:pPr algn="ctr">
              <a:lnSpc>
                <a:spcPts val="5039"/>
              </a:lnSpc>
            </a:pPr>
            <a:r>
              <a:rPr lang="en-US" sz="3599" b="1">
                <a:solidFill>
                  <a:srgbClr val="545454"/>
                </a:solidFill>
                <a:latin typeface="Canva Sans Bold"/>
                <a:ea typeface="Canva Sans Bold"/>
                <a:cs typeface="Canva Sans Bold"/>
                <a:sym typeface="Canva Sans Bold"/>
              </a:rPr>
              <a:t>From Pantry to Plate to People in need, SaveABite makes sure every bite counts.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62000"/>
            <a:ext cx="7962900" cy="1152944"/>
          </a:xfrm>
          <a:prstGeom prst="rect">
            <a:avLst/>
          </a:prstGeom>
        </p:spPr>
        <p:txBody>
          <a:bodyPr wrap="square" lIns="0" tIns="0" rIns="0" bIns="0" rtlCol="0" anchor="t">
            <a:spAutoFit/>
          </a:bodyPr>
          <a:lstStyle/>
          <a:p>
            <a:pPr algn="l">
              <a:lnSpc>
                <a:spcPts val="9799"/>
              </a:lnSpc>
              <a:spcBef>
                <a:spcPct val="0"/>
              </a:spcBef>
            </a:pPr>
            <a:r>
              <a:rPr lang="en-US" sz="6999" b="1" dirty="0">
                <a:solidFill>
                  <a:srgbClr val="000000"/>
                </a:solidFill>
                <a:latin typeface="Times New Roman Bold"/>
                <a:ea typeface="Times New Roman Bold"/>
                <a:cs typeface="Times New Roman Bold"/>
                <a:sym typeface="Times New Roman Bold"/>
              </a:rPr>
              <a:t>Problem Statement </a:t>
            </a:r>
          </a:p>
        </p:txBody>
      </p:sp>
      <p:sp>
        <p:nvSpPr>
          <p:cNvPr id="3" name="TextBox 3"/>
          <p:cNvSpPr txBox="1"/>
          <p:nvPr/>
        </p:nvSpPr>
        <p:spPr>
          <a:xfrm>
            <a:off x="1028700" y="2155508"/>
            <a:ext cx="13840334" cy="4518660"/>
          </a:xfrm>
          <a:prstGeom prst="rect">
            <a:avLst/>
          </a:prstGeom>
        </p:spPr>
        <p:txBody>
          <a:bodyPr lIns="0" tIns="0" rIns="0" bIns="0" rtlCol="0" anchor="t">
            <a:spAutoFit/>
          </a:bodyPr>
          <a:lstStyle/>
          <a:p>
            <a:pPr algn="l">
              <a:lnSpc>
                <a:spcPts val="5040"/>
              </a:lnSpc>
              <a:spcBef>
                <a:spcPct val="0"/>
              </a:spcBef>
            </a:pPr>
            <a:r>
              <a:rPr lang="en-US" sz="3600" dirty="0">
                <a:solidFill>
                  <a:srgbClr val="000000"/>
                </a:solidFill>
                <a:latin typeface="Times New Roman"/>
                <a:ea typeface="Times New Roman"/>
                <a:cs typeface="Times New Roman"/>
                <a:sym typeface="Times New Roman"/>
              </a:rPr>
              <a:t>Families &amp; communities waste food on a daily basis. This is typically caused by forgetting to check expiration date &amp; buying more than necessary. Wasted food is often disposed of in landfills, emitting methane gas, a factor that contributes to climate change. </a:t>
            </a:r>
          </a:p>
          <a:p>
            <a:pPr algn="l">
              <a:lnSpc>
                <a:spcPts val="5040"/>
              </a:lnSpc>
              <a:spcBef>
                <a:spcPct val="0"/>
              </a:spcBef>
            </a:pPr>
            <a:endParaRPr lang="en-US" sz="3600" dirty="0">
              <a:solidFill>
                <a:srgbClr val="000000"/>
              </a:solidFill>
              <a:latin typeface="Times New Roman"/>
              <a:ea typeface="Times New Roman"/>
              <a:cs typeface="Times New Roman"/>
              <a:sym typeface="Times New Roman"/>
            </a:endParaRPr>
          </a:p>
          <a:p>
            <a:pPr algn="l">
              <a:lnSpc>
                <a:spcPts val="5040"/>
              </a:lnSpc>
              <a:spcBef>
                <a:spcPct val="0"/>
              </a:spcBef>
            </a:pPr>
            <a:r>
              <a:rPr lang="en-US" sz="3600" dirty="0">
                <a:solidFill>
                  <a:srgbClr val="000000"/>
                </a:solidFill>
                <a:latin typeface="Times New Roman"/>
                <a:ea typeface="Times New Roman"/>
                <a:cs typeface="Times New Roman"/>
                <a:sym typeface="Times New Roman"/>
              </a:rPr>
              <a:t>Therefore, a smart yet easy and simple solution is needed for better food management and to reduce waste effectively.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62000"/>
            <a:ext cx="9486199" cy="132715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Times New Roman Bold"/>
                <a:ea typeface="Times New Roman Bold"/>
                <a:cs typeface="Times New Roman Bold"/>
                <a:sym typeface="Times New Roman Bold"/>
              </a:rPr>
              <a:t>Proposed Solution</a:t>
            </a:r>
          </a:p>
        </p:txBody>
      </p:sp>
      <p:sp>
        <p:nvSpPr>
          <p:cNvPr id="3" name="TextBox 3"/>
          <p:cNvSpPr txBox="1"/>
          <p:nvPr/>
        </p:nvSpPr>
        <p:spPr>
          <a:xfrm>
            <a:off x="1028700" y="2155508"/>
            <a:ext cx="13745421" cy="6433185"/>
          </a:xfrm>
          <a:prstGeom prst="rect">
            <a:avLst/>
          </a:prstGeom>
        </p:spPr>
        <p:txBody>
          <a:bodyPr lIns="0" tIns="0" rIns="0" bIns="0" rtlCol="0" anchor="t">
            <a:spAutoFit/>
          </a:bodyPr>
          <a:lstStyle/>
          <a:p>
            <a:pPr algn="l">
              <a:lnSpc>
                <a:spcPts val="5040"/>
              </a:lnSpc>
              <a:spcBef>
                <a:spcPct val="0"/>
              </a:spcBef>
            </a:pPr>
            <a:r>
              <a:rPr lang="en-US" sz="3600">
                <a:solidFill>
                  <a:srgbClr val="000000"/>
                </a:solidFill>
                <a:latin typeface="Times New Roman"/>
                <a:ea typeface="Times New Roman"/>
                <a:cs typeface="Times New Roman"/>
                <a:sym typeface="Times New Roman"/>
              </a:rPr>
              <a:t>SaveABite is a smart sustainability app that assists users in reducing food waste by tracking groceries, providing recipes to use the leftover or soon-to-expire ones, and allowing the donations to local NGOs, food banks, or soup kitchens. </a:t>
            </a:r>
          </a:p>
          <a:p>
            <a:pPr algn="l">
              <a:lnSpc>
                <a:spcPts val="5040"/>
              </a:lnSpc>
              <a:spcBef>
                <a:spcPct val="0"/>
              </a:spcBef>
            </a:pPr>
            <a:endParaRPr lang="en-US" sz="3600">
              <a:solidFill>
                <a:srgbClr val="000000"/>
              </a:solidFill>
              <a:latin typeface="Times New Roman"/>
              <a:ea typeface="Times New Roman"/>
              <a:cs typeface="Times New Roman"/>
              <a:sym typeface="Times New Roman"/>
            </a:endParaRPr>
          </a:p>
          <a:p>
            <a:pPr algn="l">
              <a:lnSpc>
                <a:spcPts val="5040"/>
              </a:lnSpc>
              <a:spcBef>
                <a:spcPct val="0"/>
              </a:spcBef>
            </a:pPr>
            <a:r>
              <a:rPr lang="en-US" sz="3600">
                <a:solidFill>
                  <a:srgbClr val="000000"/>
                </a:solidFill>
                <a:latin typeface="Times New Roman"/>
                <a:ea typeface="Times New Roman"/>
                <a:cs typeface="Times New Roman"/>
                <a:sym typeface="Times New Roman"/>
              </a:rPr>
              <a:t>It offers convenience, social responsibility and environmental awareness through gamification in the form of points, and leaderboards so that users can stay active and consequently save money, waste less and make the world a more sustainable and caring place.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165033"/>
            <a:ext cx="10401300" cy="6357835"/>
          </a:xfrm>
          <a:prstGeom prst="rect">
            <a:avLst/>
          </a:prstGeom>
        </p:spPr>
        <p:txBody>
          <a:bodyPr wrap="square" lIns="0" tIns="0" rIns="0" bIns="0" rtlCol="0" anchor="t">
            <a:spAutoFit/>
          </a:bodyPr>
          <a:lstStyle/>
          <a:p>
            <a:pPr marL="770012" lvl="1" indent="-385006" algn="l">
              <a:lnSpc>
                <a:spcPts val="4993"/>
              </a:lnSpc>
              <a:buFont typeface="Arial"/>
              <a:buChar char="•"/>
            </a:pPr>
            <a:r>
              <a:rPr lang="en-US" sz="3566" b="1" dirty="0">
                <a:solidFill>
                  <a:srgbClr val="000000"/>
                </a:solidFill>
                <a:latin typeface="Times New Roman Bold"/>
                <a:ea typeface="Times New Roman Bold"/>
                <a:cs typeface="Times New Roman Bold"/>
                <a:sym typeface="Times New Roman Bold"/>
              </a:rPr>
              <a:t>Name</a:t>
            </a:r>
            <a:r>
              <a:rPr lang="en-US" sz="3566" dirty="0">
                <a:solidFill>
                  <a:srgbClr val="000000"/>
                </a:solidFill>
                <a:latin typeface="Times New Roman"/>
                <a:ea typeface="Times New Roman"/>
                <a:cs typeface="Times New Roman"/>
                <a:sym typeface="Times New Roman"/>
              </a:rPr>
              <a:t>: Issa Sharma</a:t>
            </a:r>
          </a:p>
          <a:p>
            <a:pPr marL="770012" lvl="1" indent="-385006" algn="l">
              <a:lnSpc>
                <a:spcPts val="4993"/>
              </a:lnSpc>
              <a:buFont typeface="Arial"/>
              <a:buChar char="•"/>
            </a:pPr>
            <a:r>
              <a:rPr lang="en-US" sz="3566" b="1" dirty="0">
                <a:solidFill>
                  <a:srgbClr val="000000"/>
                </a:solidFill>
                <a:latin typeface="Times New Roman Bold"/>
                <a:ea typeface="Times New Roman Bold"/>
                <a:cs typeface="Times New Roman Bold"/>
                <a:sym typeface="Times New Roman Bold"/>
              </a:rPr>
              <a:t>Age</a:t>
            </a:r>
            <a:r>
              <a:rPr lang="en-US" sz="3566" dirty="0">
                <a:solidFill>
                  <a:srgbClr val="000000"/>
                </a:solidFill>
                <a:latin typeface="Times New Roman"/>
                <a:ea typeface="Times New Roman"/>
                <a:cs typeface="Times New Roman"/>
                <a:sym typeface="Times New Roman"/>
              </a:rPr>
              <a:t>: 20</a:t>
            </a:r>
          </a:p>
          <a:p>
            <a:pPr marL="770012" lvl="1" indent="-385006" algn="l">
              <a:lnSpc>
                <a:spcPts val="4993"/>
              </a:lnSpc>
              <a:spcBef>
                <a:spcPct val="0"/>
              </a:spcBef>
              <a:buFont typeface="Arial"/>
              <a:buChar char="•"/>
            </a:pPr>
            <a:r>
              <a:rPr lang="en-US" sz="3566" b="1" dirty="0">
                <a:solidFill>
                  <a:srgbClr val="000000"/>
                </a:solidFill>
                <a:latin typeface="Times New Roman Bold"/>
                <a:ea typeface="Times New Roman Bold"/>
                <a:cs typeface="Times New Roman Bold"/>
                <a:sym typeface="Times New Roman Bold"/>
              </a:rPr>
              <a:t>Occupation</a:t>
            </a:r>
            <a:r>
              <a:rPr lang="en-US" sz="3566" dirty="0">
                <a:solidFill>
                  <a:srgbClr val="000000"/>
                </a:solidFill>
                <a:latin typeface="Times New Roman"/>
                <a:ea typeface="Times New Roman"/>
                <a:cs typeface="Times New Roman"/>
                <a:sym typeface="Times New Roman"/>
              </a:rPr>
              <a:t>: College Student living in a shared flat</a:t>
            </a:r>
          </a:p>
          <a:p>
            <a:pPr marL="770012" lvl="1" indent="-385006" algn="l">
              <a:lnSpc>
                <a:spcPts val="4993"/>
              </a:lnSpc>
              <a:spcBef>
                <a:spcPct val="0"/>
              </a:spcBef>
              <a:buFont typeface="Arial"/>
              <a:buChar char="•"/>
            </a:pPr>
            <a:r>
              <a:rPr lang="en-US" sz="3566" b="1" dirty="0">
                <a:solidFill>
                  <a:srgbClr val="000000"/>
                </a:solidFill>
                <a:latin typeface="Times New Roman Bold"/>
                <a:ea typeface="Times New Roman Bold"/>
                <a:cs typeface="Times New Roman Bold"/>
                <a:sym typeface="Times New Roman Bold"/>
              </a:rPr>
              <a:t>Goals</a:t>
            </a:r>
            <a:r>
              <a:rPr lang="en-US" sz="3566" dirty="0">
                <a:solidFill>
                  <a:srgbClr val="000000"/>
                </a:solidFill>
                <a:latin typeface="Times New Roman"/>
                <a:ea typeface="Times New Roman"/>
                <a:cs typeface="Times New Roman"/>
                <a:sym typeface="Times New Roman"/>
              </a:rPr>
              <a:t>:  Save money, eat healthier, waste less food</a:t>
            </a:r>
          </a:p>
          <a:p>
            <a:pPr marL="777240" lvl="1" indent="-388620" algn="l">
              <a:lnSpc>
                <a:spcPts val="5040"/>
              </a:lnSpc>
              <a:spcBef>
                <a:spcPct val="0"/>
              </a:spcBef>
              <a:buFont typeface="Arial"/>
              <a:buChar char="•"/>
            </a:pPr>
            <a:r>
              <a:rPr lang="en-US" sz="3600" b="1" dirty="0">
                <a:solidFill>
                  <a:srgbClr val="000000"/>
                </a:solidFill>
                <a:latin typeface="Times New Roman Bold"/>
                <a:ea typeface="Times New Roman Bold"/>
                <a:cs typeface="Times New Roman Bold"/>
                <a:sym typeface="Times New Roman Bold"/>
              </a:rPr>
              <a:t>Frustrations</a:t>
            </a:r>
            <a:r>
              <a:rPr lang="en-US" sz="3600" dirty="0">
                <a:solidFill>
                  <a:srgbClr val="000000"/>
                </a:solidFill>
                <a:latin typeface="Times New Roman"/>
                <a:ea typeface="Times New Roman"/>
                <a:cs typeface="Times New Roman"/>
                <a:sym typeface="Times New Roman"/>
              </a:rPr>
              <a:t>: Always forgetting expiry dates, throwing away half-used items, no idea where to donate leftovers</a:t>
            </a:r>
          </a:p>
          <a:p>
            <a:pPr marL="770012" lvl="1" indent="-385006" algn="l">
              <a:lnSpc>
                <a:spcPts val="4993"/>
              </a:lnSpc>
              <a:spcBef>
                <a:spcPct val="0"/>
              </a:spcBef>
              <a:buFont typeface="Arial"/>
              <a:buChar char="•"/>
            </a:pPr>
            <a:r>
              <a:rPr lang="en-US" sz="3566" b="1" dirty="0" err="1">
                <a:solidFill>
                  <a:srgbClr val="000000"/>
                </a:solidFill>
                <a:latin typeface="Times New Roman Bold"/>
                <a:ea typeface="Times New Roman Bold"/>
                <a:cs typeface="Times New Roman Bold"/>
                <a:sym typeface="Times New Roman Bold"/>
              </a:rPr>
              <a:t>Behaviours</a:t>
            </a:r>
            <a:r>
              <a:rPr lang="en-US" sz="3566" dirty="0">
                <a:solidFill>
                  <a:srgbClr val="000000"/>
                </a:solidFill>
                <a:latin typeface="Times New Roman"/>
                <a:ea typeface="Times New Roman"/>
                <a:cs typeface="Times New Roman"/>
                <a:sym typeface="Times New Roman"/>
              </a:rPr>
              <a:t>:  Shops weekly, cooks occasionally, uses mobile apps for budgeting</a:t>
            </a:r>
          </a:p>
          <a:p>
            <a:pPr algn="l">
              <a:lnSpc>
                <a:spcPts val="4993"/>
              </a:lnSpc>
              <a:spcBef>
                <a:spcPct val="0"/>
              </a:spcBef>
            </a:pPr>
            <a:endParaRPr lang="en-US" sz="3566" dirty="0">
              <a:solidFill>
                <a:srgbClr val="000000"/>
              </a:solidFill>
              <a:latin typeface="Times New Roman"/>
              <a:ea typeface="Times New Roman"/>
              <a:cs typeface="Times New Roman"/>
              <a:sym typeface="Times New Roman"/>
            </a:endParaRPr>
          </a:p>
        </p:txBody>
      </p:sp>
      <p:grpSp>
        <p:nvGrpSpPr>
          <p:cNvPr id="3" name="Group 3"/>
          <p:cNvGrpSpPr/>
          <p:nvPr/>
        </p:nvGrpSpPr>
        <p:grpSpPr>
          <a:xfrm>
            <a:off x="11579953" y="668539"/>
            <a:ext cx="6505456" cy="8589761"/>
            <a:chOff x="0" y="0"/>
            <a:chExt cx="1171180" cy="1546418"/>
          </a:xfrm>
        </p:grpSpPr>
        <p:sp>
          <p:nvSpPr>
            <p:cNvPr id="4" name="Freeform 4"/>
            <p:cNvSpPr/>
            <p:nvPr/>
          </p:nvSpPr>
          <p:spPr>
            <a:xfrm>
              <a:off x="0" y="0"/>
              <a:ext cx="1171180" cy="1546418"/>
            </a:xfrm>
            <a:custGeom>
              <a:avLst/>
              <a:gdLst/>
              <a:ahLst/>
              <a:cxnLst/>
              <a:rect l="l" t="t" r="r" b="b"/>
              <a:pathLst>
                <a:path w="1171180" h="1546418">
                  <a:moveTo>
                    <a:pt x="585590" y="0"/>
                  </a:moveTo>
                  <a:cubicBezTo>
                    <a:pt x="262178" y="0"/>
                    <a:pt x="0" y="346177"/>
                    <a:pt x="0" y="773209"/>
                  </a:cubicBezTo>
                  <a:cubicBezTo>
                    <a:pt x="0" y="1200240"/>
                    <a:pt x="262178" y="1546418"/>
                    <a:pt x="585590" y="1546418"/>
                  </a:cubicBezTo>
                  <a:cubicBezTo>
                    <a:pt x="909002" y="1546418"/>
                    <a:pt x="1171180" y="1200240"/>
                    <a:pt x="1171180" y="773209"/>
                  </a:cubicBezTo>
                  <a:cubicBezTo>
                    <a:pt x="1171180" y="346177"/>
                    <a:pt x="909002" y="0"/>
                    <a:pt x="585590" y="0"/>
                  </a:cubicBezTo>
                  <a:close/>
                </a:path>
              </a:pathLst>
            </a:custGeom>
            <a:blipFill>
              <a:blip r:embed="rId2"/>
              <a:stretch>
                <a:fillRect l="-4366" r="-4366" b="-23522"/>
              </a:stretch>
            </a:blipFill>
          </p:spPr>
        </p:sp>
      </p:grpSp>
      <p:sp>
        <p:nvSpPr>
          <p:cNvPr id="5" name="TextBox 5"/>
          <p:cNvSpPr txBox="1"/>
          <p:nvPr/>
        </p:nvSpPr>
        <p:spPr>
          <a:xfrm>
            <a:off x="1028700" y="762000"/>
            <a:ext cx="6591300" cy="1152944"/>
          </a:xfrm>
          <a:prstGeom prst="rect">
            <a:avLst/>
          </a:prstGeom>
        </p:spPr>
        <p:txBody>
          <a:bodyPr wrap="square" lIns="0" tIns="0" rIns="0" bIns="0" rtlCol="0" anchor="t">
            <a:spAutoFit/>
          </a:bodyPr>
          <a:lstStyle/>
          <a:p>
            <a:pPr>
              <a:lnSpc>
                <a:spcPts val="9799"/>
              </a:lnSpc>
              <a:spcBef>
                <a:spcPct val="0"/>
              </a:spcBef>
            </a:pPr>
            <a:r>
              <a:rPr lang="en-US" sz="6999" b="1" dirty="0">
                <a:solidFill>
                  <a:srgbClr val="000000"/>
                </a:solidFill>
                <a:latin typeface="Times New Roman Bold"/>
                <a:ea typeface="Times New Roman Bold"/>
                <a:cs typeface="Times New Roman Bold"/>
                <a:sym typeface="Times New Roman Bold"/>
              </a:rPr>
              <a:t>User Persona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089150"/>
            <a:ext cx="3558055" cy="7476157"/>
          </a:xfrm>
          <a:custGeom>
            <a:avLst/>
            <a:gdLst/>
            <a:ahLst/>
            <a:cxnLst/>
            <a:rect l="l" t="t" r="r" b="b"/>
            <a:pathLst>
              <a:path w="3558055" h="7476157">
                <a:moveTo>
                  <a:pt x="0" y="0"/>
                </a:moveTo>
                <a:lnTo>
                  <a:pt x="3558055" y="0"/>
                </a:lnTo>
                <a:lnTo>
                  <a:pt x="3558055" y="7476158"/>
                </a:lnTo>
                <a:lnTo>
                  <a:pt x="0" y="7476158"/>
                </a:lnTo>
                <a:lnTo>
                  <a:pt x="0" y="0"/>
                </a:lnTo>
                <a:close/>
              </a:path>
            </a:pathLst>
          </a:custGeom>
          <a:blipFill>
            <a:blip r:embed="rId2"/>
            <a:stretch>
              <a:fillRect b="-7875"/>
            </a:stretch>
          </a:blipFill>
        </p:spPr>
      </p:sp>
      <p:sp>
        <p:nvSpPr>
          <p:cNvPr id="3" name="Freeform 3"/>
          <p:cNvSpPr/>
          <p:nvPr/>
        </p:nvSpPr>
        <p:spPr>
          <a:xfrm>
            <a:off x="5205880" y="2089150"/>
            <a:ext cx="3301458" cy="7482058"/>
          </a:xfrm>
          <a:custGeom>
            <a:avLst/>
            <a:gdLst/>
            <a:ahLst/>
            <a:cxnLst/>
            <a:rect l="l" t="t" r="r" b="b"/>
            <a:pathLst>
              <a:path w="3301458" h="7482058">
                <a:moveTo>
                  <a:pt x="0" y="0"/>
                </a:moveTo>
                <a:lnTo>
                  <a:pt x="3301459" y="0"/>
                </a:lnTo>
                <a:lnTo>
                  <a:pt x="3301459" y="7482058"/>
                </a:lnTo>
                <a:lnTo>
                  <a:pt x="0" y="7482058"/>
                </a:lnTo>
                <a:lnTo>
                  <a:pt x="0" y="0"/>
                </a:lnTo>
                <a:close/>
              </a:path>
            </a:pathLst>
          </a:custGeom>
          <a:blipFill>
            <a:blip r:embed="rId3"/>
            <a:stretch>
              <a:fillRect/>
            </a:stretch>
          </a:blipFill>
        </p:spPr>
      </p:sp>
      <p:sp>
        <p:nvSpPr>
          <p:cNvPr id="4" name="Freeform 4"/>
          <p:cNvSpPr/>
          <p:nvPr/>
        </p:nvSpPr>
        <p:spPr>
          <a:xfrm>
            <a:off x="9383611" y="2059682"/>
            <a:ext cx="3414095" cy="7511526"/>
          </a:xfrm>
          <a:custGeom>
            <a:avLst/>
            <a:gdLst/>
            <a:ahLst/>
            <a:cxnLst/>
            <a:rect l="l" t="t" r="r" b="b"/>
            <a:pathLst>
              <a:path w="3414095" h="7511526">
                <a:moveTo>
                  <a:pt x="0" y="0"/>
                </a:moveTo>
                <a:lnTo>
                  <a:pt x="3414095" y="0"/>
                </a:lnTo>
                <a:lnTo>
                  <a:pt x="3414095" y="7511526"/>
                </a:lnTo>
                <a:lnTo>
                  <a:pt x="0" y="7511526"/>
                </a:lnTo>
                <a:lnTo>
                  <a:pt x="0" y="0"/>
                </a:lnTo>
                <a:close/>
              </a:path>
            </a:pathLst>
          </a:custGeom>
          <a:blipFill>
            <a:blip r:embed="rId4"/>
            <a:stretch>
              <a:fillRect b="-8733"/>
            </a:stretch>
          </a:blipFill>
        </p:spPr>
      </p:sp>
      <p:sp>
        <p:nvSpPr>
          <p:cNvPr id="5" name="Freeform 5"/>
          <p:cNvSpPr/>
          <p:nvPr/>
        </p:nvSpPr>
        <p:spPr>
          <a:xfrm>
            <a:off x="13412095" y="2089150"/>
            <a:ext cx="3523774" cy="7482058"/>
          </a:xfrm>
          <a:custGeom>
            <a:avLst/>
            <a:gdLst/>
            <a:ahLst/>
            <a:cxnLst/>
            <a:rect l="l" t="t" r="r" b="b"/>
            <a:pathLst>
              <a:path w="3523774" h="7482058">
                <a:moveTo>
                  <a:pt x="0" y="0"/>
                </a:moveTo>
                <a:lnTo>
                  <a:pt x="3523773" y="0"/>
                </a:lnTo>
                <a:lnTo>
                  <a:pt x="3523773" y="7482058"/>
                </a:lnTo>
                <a:lnTo>
                  <a:pt x="0" y="7482058"/>
                </a:lnTo>
                <a:lnTo>
                  <a:pt x="0" y="0"/>
                </a:lnTo>
                <a:close/>
              </a:path>
            </a:pathLst>
          </a:custGeom>
          <a:blipFill>
            <a:blip r:embed="rId5"/>
            <a:stretch>
              <a:fillRect b="-6751"/>
            </a:stretch>
          </a:blipFill>
        </p:spPr>
      </p:sp>
      <p:sp>
        <p:nvSpPr>
          <p:cNvPr id="6" name="TextBox 6"/>
          <p:cNvSpPr txBox="1"/>
          <p:nvPr/>
        </p:nvSpPr>
        <p:spPr>
          <a:xfrm>
            <a:off x="1028700" y="762000"/>
            <a:ext cx="9679718" cy="132715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Times New Roman Bold"/>
                <a:ea typeface="Times New Roman Bold"/>
                <a:cs typeface="Times New Roman Bold"/>
                <a:sym typeface="Times New Roman Bold"/>
              </a:rPr>
              <a:t>Low-Fidelity Wireframe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54953" y="762000"/>
            <a:ext cx="9689247" cy="1152944"/>
          </a:xfrm>
          <a:prstGeom prst="rect">
            <a:avLst/>
          </a:prstGeom>
        </p:spPr>
        <p:txBody>
          <a:bodyPr wrap="square" lIns="0" tIns="0" rIns="0" bIns="0" rtlCol="0" anchor="t">
            <a:spAutoFit/>
          </a:bodyPr>
          <a:lstStyle/>
          <a:p>
            <a:pPr>
              <a:lnSpc>
                <a:spcPts val="9799"/>
              </a:lnSpc>
              <a:spcBef>
                <a:spcPct val="0"/>
              </a:spcBef>
            </a:pPr>
            <a:r>
              <a:rPr lang="en-US" sz="6999" b="1" dirty="0">
                <a:solidFill>
                  <a:srgbClr val="000000"/>
                </a:solidFill>
                <a:latin typeface="Times New Roman Bold"/>
                <a:ea typeface="Times New Roman Bold"/>
                <a:cs typeface="Times New Roman Bold"/>
                <a:sym typeface="Times New Roman Bold"/>
              </a:rPr>
              <a:t>Mid-Fidelity Wireframe</a:t>
            </a:r>
          </a:p>
        </p:txBody>
      </p:sp>
      <p:sp>
        <p:nvSpPr>
          <p:cNvPr id="3" name="Freeform 3"/>
          <p:cNvSpPr/>
          <p:nvPr/>
        </p:nvSpPr>
        <p:spPr>
          <a:xfrm>
            <a:off x="1028700" y="2089150"/>
            <a:ext cx="3482440" cy="7334386"/>
          </a:xfrm>
          <a:custGeom>
            <a:avLst/>
            <a:gdLst/>
            <a:ahLst/>
            <a:cxnLst/>
            <a:rect l="l" t="t" r="r" b="b"/>
            <a:pathLst>
              <a:path w="3482440" h="7334386">
                <a:moveTo>
                  <a:pt x="0" y="0"/>
                </a:moveTo>
                <a:lnTo>
                  <a:pt x="3482440" y="0"/>
                </a:lnTo>
                <a:lnTo>
                  <a:pt x="3482440" y="7334386"/>
                </a:lnTo>
                <a:lnTo>
                  <a:pt x="0" y="7334386"/>
                </a:lnTo>
                <a:lnTo>
                  <a:pt x="0" y="0"/>
                </a:lnTo>
                <a:close/>
              </a:path>
            </a:pathLst>
          </a:custGeom>
          <a:blipFill>
            <a:blip r:embed="rId2"/>
            <a:stretch>
              <a:fillRect b="-7623"/>
            </a:stretch>
          </a:blipFill>
        </p:spPr>
      </p:sp>
      <p:sp>
        <p:nvSpPr>
          <p:cNvPr id="4" name="Freeform 4"/>
          <p:cNvSpPr/>
          <p:nvPr/>
        </p:nvSpPr>
        <p:spPr>
          <a:xfrm>
            <a:off x="9467615" y="2031601"/>
            <a:ext cx="3495590" cy="7391935"/>
          </a:xfrm>
          <a:custGeom>
            <a:avLst/>
            <a:gdLst/>
            <a:ahLst/>
            <a:cxnLst/>
            <a:rect l="l" t="t" r="r" b="b"/>
            <a:pathLst>
              <a:path w="3495590" h="7391935">
                <a:moveTo>
                  <a:pt x="0" y="0"/>
                </a:moveTo>
                <a:lnTo>
                  <a:pt x="3495591" y="0"/>
                </a:lnTo>
                <a:lnTo>
                  <a:pt x="3495591" y="7391935"/>
                </a:lnTo>
                <a:lnTo>
                  <a:pt x="0" y="7391935"/>
                </a:lnTo>
                <a:lnTo>
                  <a:pt x="0" y="0"/>
                </a:lnTo>
                <a:close/>
              </a:path>
            </a:pathLst>
          </a:custGeom>
          <a:blipFill>
            <a:blip r:embed="rId3"/>
            <a:stretch>
              <a:fillRect b="-9977"/>
            </a:stretch>
          </a:blipFill>
        </p:spPr>
      </p:sp>
      <p:sp>
        <p:nvSpPr>
          <p:cNvPr id="5" name="Freeform 5"/>
          <p:cNvSpPr/>
          <p:nvPr/>
        </p:nvSpPr>
        <p:spPr>
          <a:xfrm>
            <a:off x="13611590" y="2060376"/>
            <a:ext cx="3497794" cy="7363160"/>
          </a:xfrm>
          <a:custGeom>
            <a:avLst/>
            <a:gdLst/>
            <a:ahLst/>
            <a:cxnLst/>
            <a:rect l="l" t="t" r="r" b="b"/>
            <a:pathLst>
              <a:path w="3497794" h="7363160">
                <a:moveTo>
                  <a:pt x="0" y="0"/>
                </a:moveTo>
                <a:lnTo>
                  <a:pt x="3497795" y="0"/>
                </a:lnTo>
                <a:lnTo>
                  <a:pt x="3497795" y="7363160"/>
                </a:lnTo>
                <a:lnTo>
                  <a:pt x="0" y="7363160"/>
                </a:lnTo>
                <a:lnTo>
                  <a:pt x="0" y="0"/>
                </a:lnTo>
                <a:close/>
              </a:path>
            </a:pathLst>
          </a:custGeom>
          <a:blipFill>
            <a:blip r:embed="rId4"/>
            <a:stretch>
              <a:fillRect b="-12103"/>
            </a:stretch>
          </a:blipFill>
        </p:spPr>
      </p:sp>
      <p:sp>
        <p:nvSpPr>
          <p:cNvPr id="6" name="Freeform 6"/>
          <p:cNvSpPr/>
          <p:nvPr/>
        </p:nvSpPr>
        <p:spPr>
          <a:xfrm>
            <a:off x="5247883" y="2060376"/>
            <a:ext cx="3301458" cy="7482058"/>
          </a:xfrm>
          <a:custGeom>
            <a:avLst/>
            <a:gdLst/>
            <a:ahLst/>
            <a:cxnLst/>
            <a:rect l="l" t="t" r="r" b="b"/>
            <a:pathLst>
              <a:path w="3301458" h="7482058">
                <a:moveTo>
                  <a:pt x="0" y="0"/>
                </a:moveTo>
                <a:lnTo>
                  <a:pt x="3301458" y="0"/>
                </a:lnTo>
                <a:lnTo>
                  <a:pt x="3301458" y="7482058"/>
                </a:lnTo>
                <a:lnTo>
                  <a:pt x="0" y="7482058"/>
                </a:lnTo>
                <a:lnTo>
                  <a:pt x="0" y="0"/>
                </a:lnTo>
                <a:close/>
              </a:path>
            </a:pathLst>
          </a:custGeom>
          <a:blipFill>
            <a:blip r:embed="rId5"/>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11494" y="2106136"/>
            <a:ext cx="3276399" cy="7422551"/>
          </a:xfrm>
          <a:custGeom>
            <a:avLst/>
            <a:gdLst/>
            <a:ahLst/>
            <a:cxnLst/>
            <a:rect l="l" t="t" r="r" b="b"/>
            <a:pathLst>
              <a:path w="3495748" h="7422551">
                <a:moveTo>
                  <a:pt x="0" y="0"/>
                </a:moveTo>
                <a:lnTo>
                  <a:pt x="3495748" y="0"/>
                </a:lnTo>
                <a:lnTo>
                  <a:pt x="3495748" y="7422551"/>
                </a:lnTo>
                <a:lnTo>
                  <a:pt x="0" y="7422551"/>
                </a:lnTo>
                <a:lnTo>
                  <a:pt x="0" y="0"/>
                </a:lnTo>
                <a:close/>
              </a:path>
            </a:pathLst>
          </a:custGeom>
          <a:blipFill>
            <a:blip r:embed="rId2"/>
            <a:stretch>
              <a:fillRect b="-6751"/>
            </a:stretch>
          </a:blipFill>
        </p:spPr>
      </p:sp>
      <p:sp>
        <p:nvSpPr>
          <p:cNvPr id="4" name="Freeform 4"/>
          <p:cNvSpPr/>
          <p:nvPr/>
        </p:nvSpPr>
        <p:spPr>
          <a:xfrm>
            <a:off x="9348508" y="2036692"/>
            <a:ext cx="3276399" cy="7488308"/>
          </a:xfrm>
          <a:custGeom>
            <a:avLst/>
            <a:gdLst/>
            <a:ahLst/>
            <a:cxnLst/>
            <a:rect l="l" t="t" r="r" b="b"/>
            <a:pathLst>
              <a:path w="3276399" h="7421314">
                <a:moveTo>
                  <a:pt x="0" y="0"/>
                </a:moveTo>
                <a:lnTo>
                  <a:pt x="3276399" y="0"/>
                </a:lnTo>
                <a:lnTo>
                  <a:pt x="3276399" y="7421314"/>
                </a:lnTo>
                <a:lnTo>
                  <a:pt x="0" y="7421314"/>
                </a:lnTo>
                <a:lnTo>
                  <a:pt x="0" y="0"/>
                </a:lnTo>
                <a:close/>
              </a:path>
            </a:pathLst>
          </a:custGeom>
          <a:blipFill>
            <a:blip r:embed="rId3"/>
            <a:stretch>
              <a:fillRect b="-7351"/>
            </a:stretch>
          </a:blipFill>
        </p:spPr>
      </p:sp>
      <p:sp>
        <p:nvSpPr>
          <p:cNvPr id="5" name="Freeform 5"/>
          <p:cNvSpPr/>
          <p:nvPr/>
        </p:nvSpPr>
        <p:spPr>
          <a:xfrm>
            <a:off x="5158884" y="2051999"/>
            <a:ext cx="3267901" cy="7473001"/>
          </a:xfrm>
          <a:custGeom>
            <a:avLst/>
            <a:gdLst/>
            <a:ahLst/>
            <a:cxnLst/>
            <a:rect l="l" t="t" r="r" b="b"/>
            <a:pathLst>
              <a:path w="3267901" h="7406007">
                <a:moveTo>
                  <a:pt x="0" y="0"/>
                </a:moveTo>
                <a:lnTo>
                  <a:pt x="3267901" y="0"/>
                </a:lnTo>
                <a:lnTo>
                  <a:pt x="3267901" y="7406007"/>
                </a:lnTo>
                <a:lnTo>
                  <a:pt x="0" y="7406007"/>
                </a:lnTo>
                <a:lnTo>
                  <a:pt x="0" y="0"/>
                </a:lnTo>
                <a:close/>
              </a:path>
            </a:pathLst>
          </a:custGeom>
          <a:blipFill>
            <a:blip r:embed="rId4"/>
            <a:stretch>
              <a:fillRect/>
            </a:stretch>
          </a:blipFill>
        </p:spPr>
      </p:sp>
      <p:sp>
        <p:nvSpPr>
          <p:cNvPr id="6" name="TextBox 6"/>
          <p:cNvSpPr txBox="1"/>
          <p:nvPr/>
        </p:nvSpPr>
        <p:spPr>
          <a:xfrm>
            <a:off x="1028700" y="762000"/>
            <a:ext cx="5190760" cy="132715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Times New Roman Bold"/>
                <a:ea typeface="Times New Roman Bold"/>
                <a:cs typeface="Times New Roman Bold"/>
                <a:sym typeface="Times New Roman Bold"/>
              </a:rPr>
              <a:t>UI Mock-ups</a:t>
            </a:r>
          </a:p>
        </p:txBody>
      </p:sp>
      <p:pic>
        <p:nvPicPr>
          <p:cNvPr id="8" name="Picture 7">
            <a:extLst>
              <a:ext uri="{FF2B5EF4-FFF2-40B4-BE49-F238E27FC236}">
                <a16:creationId xmlns:a16="http://schemas.microsoft.com/office/drawing/2014/main" id="{777F9672-F02A-F464-2871-E18BA18A44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87400" y="2036692"/>
            <a:ext cx="3267901" cy="7488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62000"/>
            <a:ext cx="12230100" cy="1152944"/>
          </a:xfrm>
          <a:prstGeom prst="rect">
            <a:avLst/>
          </a:prstGeom>
        </p:spPr>
        <p:txBody>
          <a:bodyPr wrap="square" lIns="0" tIns="0" rIns="0" bIns="0" rtlCol="0" anchor="t">
            <a:spAutoFit/>
          </a:bodyPr>
          <a:lstStyle/>
          <a:p>
            <a:pPr algn="l">
              <a:lnSpc>
                <a:spcPts val="9799"/>
              </a:lnSpc>
              <a:spcBef>
                <a:spcPct val="0"/>
              </a:spcBef>
            </a:pPr>
            <a:r>
              <a:rPr lang="en-US" sz="6999" b="1" dirty="0">
                <a:solidFill>
                  <a:srgbClr val="000000"/>
                </a:solidFill>
                <a:latin typeface="Times New Roman Bold"/>
                <a:ea typeface="Times New Roman Bold"/>
                <a:cs typeface="Times New Roman Bold"/>
                <a:sym typeface="Times New Roman Bold"/>
              </a:rPr>
              <a:t>Psychological Principles in Use</a:t>
            </a:r>
          </a:p>
        </p:txBody>
      </p:sp>
      <p:sp>
        <p:nvSpPr>
          <p:cNvPr id="3" name="TextBox 3"/>
          <p:cNvSpPr txBox="1"/>
          <p:nvPr/>
        </p:nvSpPr>
        <p:spPr>
          <a:xfrm>
            <a:off x="1028700" y="2155900"/>
            <a:ext cx="16696549" cy="7709535"/>
          </a:xfrm>
          <a:prstGeom prst="rect">
            <a:avLst/>
          </a:prstGeom>
        </p:spPr>
        <p:txBody>
          <a:bodyPr lIns="0" tIns="0" rIns="0" bIns="0" rtlCol="0" anchor="t">
            <a:spAutoFit/>
          </a:bodyPr>
          <a:lstStyle/>
          <a:p>
            <a:pPr marL="777240" lvl="1" indent="-388620" algn="just">
              <a:lnSpc>
                <a:spcPts val="5040"/>
              </a:lnSpc>
              <a:buAutoNum type="arabicPeriod"/>
            </a:pPr>
            <a:r>
              <a:rPr lang="en-US" sz="3600" b="1" dirty="0">
                <a:solidFill>
                  <a:srgbClr val="000000"/>
                </a:solidFill>
                <a:latin typeface="Times New Roman Bold"/>
                <a:ea typeface="Times New Roman Bold"/>
                <a:cs typeface="Times New Roman Bold"/>
                <a:sym typeface="Times New Roman Bold"/>
              </a:rPr>
              <a:t>Miller's Law (Chunking)</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Information is divided into digestible amounts (cards, tiles or modules).</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Facilitates memorizing and retrieving information.</a:t>
            </a:r>
          </a:p>
          <a:p>
            <a:pPr algn="just">
              <a:lnSpc>
                <a:spcPts val="5040"/>
              </a:lnSpc>
              <a:spcBef>
                <a:spcPct val="0"/>
              </a:spcBef>
            </a:pPr>
            <a:r>
              <a:rPr lang="en-US" sz="3600" dirty="0">
                <a:solidFill>
                  <a:srgbClr val="000000"/>
                </a:solidFill>
                <a:latin typeface="Times New Roman"/>
                <a:ea typeface="Times New Roman"/>
                <a:cs typeface="Times New Roman"/>
                <a:sym typeface="Times New Roman"/>
              </a:rPr>
              <a:t>   </a:t>
            </a:r>
            <a:r>
              <a:rPr lang="en-US" sz="3600" b="1" dirty="0">
                <a:solidFill>
                  <a:srgbClr val="000000"/>
                </a:solidFill>
                <a:latin typeface="Times New Roman"/>
                <a:ea typeface="Times New Roman"/>
                <a:cs typeface="Times New Roman"/>
                <a:sym typeface="Times New Roman"/>
              </a:rPr>
              <a:t>2.</a:t>
            </a:r>
            <a:r>
              <a:rPr lang="en-US" sz="3600" b="1" dirty="0">
                <a:solidFill>
                  <a:srgbClr val="000000"/>
                </a:solidFill>
                <a:latin typeface="Times New Roman Bold"/>
                <a:ea typeface="Times New Roman Bold"/>
                <a:cs typeface="Times New Roman Bold"/>
                <a:sym typeface="Times New Roman Bold"/>
              </a:rPr>
              <a:t>Jakob Law (Users Prefer Familiar Patterns).</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The designs are based on the common UI principles (navigation bar, card design, search boxes).</a:t>
            </a:r>
          </a:p>
          <a:p>
            <a:pPr marL="777240" lvl="1" indent="-388620" algn="just">
              <a:lnSpc>
                <a:spcPts val="5040"/>
              </a:lnSpc>
              <a:spcBef>
                <a:spcPct val="0"/>
              </a:spcBef>
              <a:buFont typeface="Arial"/>
              <a:buChar char="•"/>
            </a:pPr>
            <a:r>
              <a:rPr lang="en-US" sz="3600" dirty="0">
                <a:solidFill>
                  <a:srgbClr val="000000"/>
                </a:solidFill>
                <a:latin typeface="Times New Roman"/>
                <a:ea typeface="Times New Roman"/>
                <a:cs typeface="Times New Roman"/>
                <a:sym typeface="Times New Roman"/>
              </a:rPr>
              <a:t>This makes the learning curve much less as users are able to bring along expectations of other apps.</a:t>
            </a:r>
          </a:p>
          <a:p>
            <a:pPr algn="just">
              <a:lnSpc>
                <a:spcPts val="5040"/>
              </a:lnSpc>
              <a:spcBef>
                <a:spcPct val="0"/>
              </a:spcBef>
            </a:pPr>
            <a:r>
              <a:rPr lang="en-US" sz="3600" dirty="0">
                <a:solidFill>
                  <a:srgbClr val="000000"/>
                </a:solidFill>
                <a:latin typeface="Times New Roman"/>
                <a:ea typeface="Times New Roman"/>
                <a:cs typeface="Times New Roman"/>
                <a:sym typeface="Times New Roman"/>
              </a:rPr>
              <a:t>   </a:t>
            </a:r>
            <a:r>
              <a:rPr lang="en-US" sz="3600" b="1" dirty="0">
                <a:solidFill>
                  <a:srgbClr val="000000"/>
                </a:solidFill>
                <a:latin typeface="Times New Roman"/>
                <a:ea typeface="Times New Roman"/>
                <a:cs typeface="Times New Roman"/>
                <a:sym typeface="Times New Roman"/>
              </a:rPr>
              <a:t>3.</a:t>
            </a:r>
            <a:r>
              <a:rPr lang="en-US" sz="3600" b="1" dirty="0">
                <a:solidFill>
                  <a:srgbClr val="000000"/>
                </a:solidFill>
                <a:latin typeface="Times New Roman Bold"/>
                <a:ea typeface="Times New Roman Bold"/>
                <a:cs typeface="Times New Roman Bold"/>
                <a:sym typeface="Times New Roman Bold"/>
              </a:rPr>
              <a:t>Hick Law (Minimizing Cognitive Load)</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Screens have fewer options, eliminating decision fatigue.</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Each piece of content is logically grouped (filters, navigation, and main content separated).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5ceb813-c715-49f3-a23a-1ecea371df86">
      <Terms xmlns="http://schemas.microsoft.com/office/infopath/2007/PartnerControls"/>
    </lcf76f155ced4ddcb4097134ff3c332f>
    <ReferenceId xmlns="d5ceb813-c715-49f3-a23a-1ecea371df86" xsi:nil="true"/>
    <TaxCatchAll xmlns="70bbbe5c-ebf7-4753-8c67-974032ae3fe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7E622B9DCE553499449F14A8A5B563E" ma:contentTypeVersion="12" ma:contentTypeDescription="Create a new document." ma:contentTypeScope="" ma:versionID="f6bdbc2c34c926e4f45369be6bbadb25">
  <xsd:schema xmlns:xsd="http://www.w3.org/2001/XMLSchema" xmlns:xs="http://www.w3.org/2001/XMLSchema" xmlns:p="http://schemas.microsoft.com/office/2006/metadata/properties" xmlns:ns2="d5ceb813-c715-49f3-a23a-1ecea371df86" xmlns:ns3="70bbbe5c-ebf7-4753-8c67-974032ae3fe4" targetNamespace="http://schemas.microsoft.com/office/2006/metadata/properties" ma:root="true" ma:fieldsID="e98b77d71f8857c854fef3b95f8d3138" ns2:_="" ns3:_="">
    <xsd:import namespace="d5ceb813-c715-49f3-a23a-1ecea371df86"/>
    <xsd:import namespace="70bbbe5c-ebf7-4753-8c67-974032ae3fe4"/>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SearchProperties"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ceb813-c715-49f3-a23a-1ecea371df86"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bbbe5c-ebf7-4753-8c67-974032ae3fe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22ec911-425d-410a-951e-1d4de0d9e6d6}" ma:internalName="TaxCatchAll" ma:showField="CatchAllData" ma:web="70bbbe5c-ebf7-4753-8c67-974032ae3f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0E02CF-13A1-45EC-A71D-E34D4FA1346A}">
  <ds:schemaRefs>
    <ds:schemaRef ds:uri="http://schemas.microsoft.com/office/2006/metadata/properties"/>
    <ds:schemaRef ds:uri="http://schemas.microsoft.com/office/infopath/2007/PartnerControls"/>
    <ds:schemaRef ds:uri="d5ceb813-c715-49f3-a23a-1ecea371df86"/>
    <ds:schemaRef ds:uri="70bbbe5c-ebf7-4753-8c67-974032ae3fe4"/>
  </ds:schemaRefs>
</ds:datastoreItem>
</file>

<file path=customXml/itemProps2.xml><?xml version="1.0" encoding="utf-8"?>
<ds:datastoreItem xmlns:ds="http://schemas.openxmlformats.org/officeDocument/2006/customXml" ds:itemID="{1EEE0752-420C-4BD6-9C42-4E018982D607}">
  <ds:schemaRefs>
    <ds:schemaRef ds:uri="http://schemas.microsoft.com/sharepoint/v3/contenttype/forms"/>
  </ds:schemaRefs>
</ds:datastoreItem>
</file>

<file path=customXml/itemProps3.xml><?xml version="1.0" encoding="utf-8"?>
<ds:datastoreItem xmlns:ds="http://schemas.openxmlformats.org/officeDocument/2006/customXml" ds:itemID="{65559DF2-91A4-468D-81C8-2A3E041B2D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ceb813-c715-49f3-a23a-1ecea371df86"/>
    <ds:schemaRef ds:uri="70bbbe5c-ebf7-4753-8c67-974032ae3f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TotalTime>
  <Words>355</Words>
  <Application>Microsoft Office PowerPoint</Application>
  <PresentationFormat>Custom</PresentationFormat>
  <Paragraphs>30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DPUIUX Assignment - A034</dc:title>
  <dc:creator>SHALOM PEREIRA</dc:creator>
  <cp:lastModifiedBy>STASHA PEREIRA - 45618230001</cp:lastModifiedBy>
  <cp:revision>3</cp:revision>
  <dcterms:created xsi:type="dcterms:W3CDTF">2006-08-16T00:00:00Z</dcterms:created>
  <dcterms:modified xsi:type="dcterms:W3CDTF">2025-09-15T15:55:18Z</dcterms:modified>
  <dc:identifier>DAGy1wa7vjo</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0x01010097E622B9DCE553499449F14A8A5B563E</vt:lpwstr>
  </property>
  <property fmtid="{D5CDD505-2E9C-101B-9397-08002B2CF9AE}" pid="3" name="MediaServiceImageTags">
    <vt:lpwstr/>
  </property>
</Properties>
</file>